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png"/>
  <Override PartName="/ppt/media/image8.jpg" ContentType="image/png"/>
  <Override PartName="/ppt/media/image10.jpg" ContentType="image/png"/>
  <Override PartName="/ppt/media/image12.jpg" ContentType="image/png"/>
  <Override PartName="/ppt/media/image1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63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0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3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1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1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6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9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53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5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14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86417" y="182832"/>
            <a:ext cx="11804101" cy="6498412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68373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255" y="2226504"/>
            <a:ext cx="789023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255" y="4777380"/>
            <a:ext cx="789023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62542" y="1790692"/>
            <a:ext cx="990599" cy="304878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8245" y="3226298"/>
            <a:ext cx="3859795" cy="30488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547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28" y="927098"/>
            <a:ext cx="8458229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29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046" y="2257588"/>
            <a:ext cx="4120896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5682" y="2257588"/>
            <a:ext cx="4110021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8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3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52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7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100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5254" y="2489201"/>
            <a:ext cx="4849306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3" y="2489203"/>
            <a:ext cx="4849306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363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9890" y="2489200"/>
            <a:ext cx="484466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2000" b="1"/>
            </a:lvl2pPr>
            <a:lvl3pPr marL="914435" indent="0">
              <a:buNone/>
              <a:defRPr sz="1800" b="1"/>
            </a:lvl3pPr>
            <a:lvl4pPr marL="1371653" indent="0">
              <a:buNone/>
              <a:defRPr sz="1600" b="1"/>
            </a:lvl4pPr>
            <a:lvl5pPr marL="1828871" indent="0">
              <a:buNone/>
              <a:defRPr sz="1600" b="1"/>
            </a:lvl5pPr>
            <a:lvl6pPr marL="2286087" indent="0">
              <a:buNone/>
              <a:defRPr sz="1600" b="1"/>
            </a:lvl6pPr>
            <a:lvl7pPr marL="2743305" indent="0">
              <a:buNone/>
              <a:defRPr sz="1600" b="1"/>
            </a:lvl7pPr>
            <a:lvl8pPr marL="3200523" indent="0">
              <a:buNone/>
              <a:defRPr sz="1600" b="1"/>
            </a:lvl8pPr>
            <a:lvl9pPr marL="365774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5254" y="3248490"/>
            <a:ext cx="4849306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42" y="2489200"/>
            <a:ext cx="4849305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2000" b="1"/>
            </a:lvl2pPr>
            <a:lvl3pPr marL="914435" indent="0">
              <a:buNone/>
              <a:defRPr sz="1800" b="1"/>
            </a:lvl3pPr>
            <a:lvl4pPr marL="1371653" indent="0">
              <a:buNone/>
              <a:defRPr sz="1600" b="1"/>
            </a:lvl4pPr>
            <a:lvl5pPr marL="1828871" indent="0">
              <a:buNone/>
              <a:defRPr sz="1600" b="1"/>
            </a:lvl5pPr>
            <a:lvl6pPr marL="2286087" indent="0">
              <a:buNone/>
              <a:defRPr sz="1600" b="1"/>
            </a:lvl6pPr>
            <a:lvl7pPr marL="2743305" indent="0">
              <a:buNone/>
              <a:defRPr sz="1600" b="1"/>
            </a:lvl7pPr>
            <a:lvl8pPr marL="3200523" indent="0">
              <a:buNone/>
              <a:defRPr sz="1600" b="1"/>
            </a:lvl8pPr>
            <a:lvl9pPr marL="365774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43" y="3245836"/>
            <a:ext cx="4849306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04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7849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327526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115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3" y="1447801"/>
            <a:ext cx="3616786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1903" y="1447801"/>
            <a:ext cx="484380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5256" y="3086845"/>
            <a:ext cx="3616785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327526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2614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5" y="1381390"/>
            <a:ext cx="3982785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7211" y="1320800"/>
            <a:ext cx="3721470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8" indent="0">
              <a:buNone/>
              <a:defRPr sz="1600"/>
            </a:lvl2pPr>
            <a:lvl3pPr marL="914435" indent="0">
              <a:buNone/>
              <a:defRPr sz="1600"/>
            </a:lvl3pPr>
            <a:lvl4pPr marL="1371653" indent="0">
              <a:buNone/>
              <a:defRPr sz="1600"/>
            </a:lvl4pPr>
            <a:lvl5pPr marL="1828871" indent="0">
              <a:buNone/>
              <a:defRPr sz="1600"/>
            </a:lvl5pPr>
            <a:lvl6pPr marL="2286087" indent="0">
              <a:buNone/>
              <a:defRPr sz="1600"/>
            </a:lvl6pPr>
            <a:lvl7pPr marL="2743305" indent="0">
              <a:buNone/>
              <a:defRPr sz="1600"/>
            </a:lvl7pPr>
            <a:lvl8pPr marL="3200523" indent="0">
              <a:buNone/>
              <a:defRPr sz="1600"/>
            </a:lvl8pPr>
            <a:lvl9pPr marL="365774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5" y="3086101"/>
            <a:ext cx="3982785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327526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760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4" y="4961454"/>
            <a:ext cx="856267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5254" y="685800"/>
            <a:ext cx="8562672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8" indent="0">
              <a:buNone/>
              <a:defRPr sz="1600"/>
            </a:lvl2pPr>
            <a:lvl3pPr marL="914435" indent="0">
              <a:buNone/>
              <a:defRPr sz="1600"/>
            </a:lvl3pPr>
            <a:lvl4pPr marL="1371653" indent="0">
              <a:buNone/>
              <a:defRPr sz="1600"/>
            </a:lvl4pPr>
            <a:lvl5pPr marL="1828871" indent="0">
              <a:buNone/>
              <a:defRPr sz="1600"/>
            </a:lvl5pPr>
            <a:lvl6pPr marL="2286087" indent="0">
              <a:buNone/>
              <a:defRPr sz="1600"/>
            </a:lvl6pPr>
            <a:lvl7pPr marL="2743305" indent="0">
              <a:buNone/>
              <a:defRPr sz="1600"/>
            </a:lvl7pPr>
            <a:lvl8pPr marL="3200523" indent="0">
              <a:buNone/>
              <a:defRPr sz="1600"/>
            </a:lvl8pPr>
            <a:lvl9pPr marL="365774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5253" y="5528192"/>
            <a:ext cx="8562672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327526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5621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5" y="927100"/>
            <a:ext cx="8562673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5" y="3488024"/>
            <a:ext cx="8562673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327526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241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863241" y="651691"/>
            <a:ext cx="8021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9425891" y="2900293"/>
            <a:ext cx="8254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4081" y="927100"/>
            <a:ext cx="8213847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849705" y="3809279"/>
            <a:ext cx="7528191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5255" y="5000817"/>
            <a:ext cx="8458230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327526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0839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5" y="2057400"/>
            <a:ext cx="8562673" cy="2095500"/>
          </a:xfrm>
        </p:spPr>
        <p:txBody>
          <a:bodyPr anchor="b"/>
          <a:lstStyle>
            <a:lvl1pPr algn="l">
              <a:defRPr sz="4001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254" y="5024909"/>
            <a:ext cx="8562672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8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3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52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7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327526" y="0"/>
            <a:ext cx="9144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3121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5" y="927101"/>
            <a:ext cx="8564791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254" y="2489200"/>
            <a:ext cx="3084576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2000" b="1"/>
            </a:lvl2pPr>
            <a:lvl3pPr marL="914435" indent="0">
              <a:buNone/>
              <a:defRPr sz="1800" b="1"/>
            </a:lvl3pPr>
            <a:lvl4pPr marL="1371653" indent="0">
              <a:buNone/>
              <a:defRPr sz="1600" b="1"/>
            </a:lvl4pPr>
            <a:lvl5pPr marL="1828871" indent="0">
              <a:buNone/>
              <a:defRPr sz="1600" b="1"/>
            </a:lvl5pPr>
            <a:lvl6pPr marL="2286087" indent="0">
              <a:buNone/>
              <a:defRPr sz="1600" b="1"/>
            </a:lvl6pPr>
            <a:lvl7pPr marL="2743305" indent="0">
              <a:buNone/>
              <a:defRPr sz="1600" b="1"/>
            </a:lvl7pPr>
            <a:lvl8pPr marL="3200523" indent="0">
              <a:buNone/>
              <a:defRPr sz="1600" b="1"/>
            </a:lvl8pPr>
            <a:lvl9pPr marL="365774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5254" y="3147164"/>
            <a:ext cx="3084576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40819" y="2489200"/>
            <a:ext cx="309189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2000" b="1"/>
            </a:lvl2pPr>
            <a:lvl3pPr marL="914435" indent="0">
              <a:buNone/>
              <a:defRPr sz="1800" b="1"/>
            </a:lvl3pPr>
            <a:lvl4pPr marL="1371653" indent="0">
              <a:buNone/>
              <a:defRPr sz="1600" b="1"/>
            </a:lvl4pPr>
            <a:lvl5pPr marL="1828871" indent="0">
              <a:buNone/>
              <a:defRPr sz="1600" b="1"/>
            </a:lvl5pPr>
            <a:lvl6pPr marL="2286087" indent="0">
              <a:buNone/>
              <a:defRPr sz="1600" b="1"/>
            </a:lvl6pPr>
            <a:lvl7pPr marL="2743305" indent="0">
              <a:buNone/>
              <a:defRPr sz="1600" b="1"/>
            </a:lvl7pPr>
            <a:lvl8pPr marL="3200523" indent="0">
              <a:buNone/>
              <a:defRPr sz="1600" b="1"/>
            </a:lvl8pPr>
            <a:lvl9pPr marL="365774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44628" y="3147164"/>
            <a:ext cx="3091891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44856" y="2489200"/>
            <a:ext cx="309189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2000" b="1"/>
            </a:lvl2pPr>
            <a:lvl3pPr marL="914435" indent="0">
              <a:buNone/>
              <a:defRPr sz="1800" b="1"/>
            </a:lvl3pPr>
            <a:lvl4pPr marL="1371653" indent="0">
              <a:buNone/>
              <a:defRPr sz="1600" b="1"/>
            </a:lvl4pPr>
            <a:lvl5pPr marL="1828871" indent="0">
              <a:buNone/>
              <a:defRPr sz="1600" b="1"/>
            </a:lvl5pPr>
            <a:lvl6pPr marL="2286087" indent="0">
              <a:buNone/>
              <a:defRPr sz="1600" b="1"/>
            </a:lvl6pPr>
            <a:lvl7pPr marL="2743305" indent="0">
              <a:buNone/>
              <a:defRPr sz="1600" b="1"/>
            </a:lvl7pPr>
            <a:lvl8pPr marL="3200523" indent="0">
              <a:buNone/>
              <a:defRPr sz="1600" b="1"/>
            </a:lvl8pPr>
            <a:lvl9pPr marL="365774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47914" y="3147164"/>
            <a:ext cx="3088833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92707" y="2489202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99362" y="2489202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186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54" y="927101"/>
            <a:ext cx="8460346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254" y="4179596"/>
            <a:ext cx="3084576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2000" b="1"/>
            </a:lvl2pPr>
            <a:lvl3pPr marL="914435" indent="0">
              <a:buNone/>
              <a:defRPr sz="1800" b="1"/>
            </a:lvl3pPr>
            <a:lvl4pPr marL="1371653" indent="0">
              <a:buNone/>
              <a:defRPr sz="1600" b="1"/>
            </a:lvl4pPr>
            <a:lvl5pPr marL="1828871" indent="0">
              <a:buNone/>
              <a:defRPr sz="1600" b="1"/>
            </a:lvl5pPr>
            <a:lvl6pPr marL="2286087" indent="0">
              <a:buNone/>
              <a:defRPr sz="1600" b="1"/>
            </a:lvl6pPr>
            <a:lvl7pPr marL="2743305" indent="0">
              <a:buNone/>
              <a:defRPr sz="1600" b="1"/>
            </a:lvl7pPr>
            <a:lvl8pPr marL="3200523" indent="0">
              <a:buNone/>
              <a:defRPr sz="1600" b="1"/>
            </a:lvl8pPr>
            <a:lvl9pPr marL="365774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58740" y="2489201"/>
            <a:ext cx="268685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8" indent="0">
              <a:buNone/>
              <a:defRPr sz="1600"/>
            </a:lvl2pPr>
            <a:lvl3pPr marL="914435" indent="0">
              <a:buNone/>
              <a:defRPr sz="1600"/>
            </a:lvl3pPr>
            <a:lvl4pPr marL="1371653" indent="0">
              <a:buNone/>
              <a:defRPr sz="1600"/>
            </a:lvl4pPr>
            <a:lvl5pPr marL="1828871" indent="0">
              <a:buNone/>
              <a:defRPr sz="1600"/>
            </a:lvl5pPr>
            <a:lvl6pPr marL="2286087" indent="0">
              <a:buNone/>
              <a:defRPr sz="1600"/>
            </a:lvl6pPr>
            <a:lvl7pPr marL="2743305" indent="0">
              <a:buNone/>
              <a:defRPr sz="1600"/>
            </a:lvl7pPr>
            <a:lvl8pPr marL="3200523" indent="0">
              <a:buNone/>
              <a:defRPr sz="1600"/>
            </a:lvl8pPr>
            <a:lvl9pPr marL="365774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5253" y="4837559"/>
            <a:ext cx="3084576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48166" y="4179595"/>
            <a:ext cx="309189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2000" b="1"/>
            </a:lvl2pPr>
            <a:lvl3pPr marL="914435" indent="0">
              <a:buNone/>
              <a:defRPr sz="1800" b="1"/>
            </a:lvl3pPr>
            <a:lvl4pPr marL="1371653" indent="0">
              <a:buNone/>
              <a:defRPr sz="1600" b="1"/>
            </a:lvl4pPr>
            <a:lvl5pPr marL="1828871" indent="0">
              <a:buNone/>
              <a:defRPr sz="1600" b="1"/>
            </a:lvl5pPr>
            <a:lvl6pPr marL="2286087" indent="0">
              <a:buNone/>
              <a:defRPr sz="1600" b="1"/>
            </a:lvl6pPr>
            <a:lvl7pPr marL="2743305" indent="0">
              <a:buNone/>
              <a:defRPr sz="1600" b="1"/>
            </a:lvl7pPr>
            <a:lvl8pPr marL="3200523" indent="0">
              <a:buNone/>
              <a:defRPr sz="1600" b="1"/>
            </a:lvl8pPr>
            <a:lvl9pPr marL="365774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37586" y="2489201"/>
            <a:ext cx="268685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8" indent="0">
              <a:buNone/>
              <a:defRPr sz="1600"/>
            </a:lvl2pPr>
            <a:lvl3pPr marL="914435" indent="0">
              <a:buNone/>
              <a:defRPr sz="1600"/>
            </a:lvl3pPr>
            <a:lvl4pPr marL="1371653" indent="0">
              <a:buNone/>
              <a:defRPr sz="1600"/>
            </a:lvl4pPr>
            <a:lvl5pPr marL="1828871" indent="0">
              <a:buNone/>
              <a:defRPr sz="1600"/>
            </a:lvl5pPr>
            <a:lvl6pPr marL="2286087" indent="0">
              <a:buNone/>
              <a:defRPr sz="1600"/>
            </a:lvl6pPr>
            <a:lvl7pPr marL="2743305" indent="0">
              <a:buNone/>
              <a:defRPr sz="1600"/>
            </a:lvl7pPr>
            <a:lvl8pPr marL="3200523" indent="0">
              <a:buNone/>
              <a:defRPr sz="1600"/>
            </a:lvl8pPr>
            <a:lvl9pPr marL="365774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48166" y="4848209"/>
            <a:ext cx="3091891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44856" y="4179596"/>
            <a:ext cx="309189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18" indent="0">
              <a:buNone/>
              <a:defRPr sz="2000" b="1"/>
            </a:lvl2pPr>
            <a:lvl3pPr marL="914435" indent="0">
              <a:buNone/>
              <a:defRPr sz="1800" b="1"/>
            </a:lvl3pPr>
            <a:lvl4pPr marL="1371653" indent="0">
              <a:buNone/>
              <a:defRPr sz="1600" b="1"/>
            </a:lvl4pPr>
            <a:lvl5pPr marL="1828871" indent="0">
              <a:buNone/>
              <a:defRPr sz="1600" b="1"/>
            </a:lvl5pPr>
            <a:lvl6pPr marL="2286087" indent="0">
              <a:buNone/>
              <a:defRPr sz="1600" b="1"/>
            </a:lvl6pPr>
            <a:lvl7pPr marL="2743305" indent="0">
              <a:buNone/>
              <a:defRPr sz="1600" b="1"/>
            </a:lvl7pPr>
            <a:lvl8pPr marL="3200523" indent="0">
              <a:buNone/>
              <a:defRPr sz="1600" b="1"/>
            </a:lvl8pPr>
            <a:lvl9pPr marL="365774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44855" y="2489201"/>
            <a:ext cx="268685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8" indent="0">
              <a:buNone/>
              <a:defRPr sz="1600"/>
            </a:lvl2pPr>
            <a:lvl3pPr marL="914435" indent="0">
              <a:buNone/>
              <a:defRPr sz="1600"/>
            </a:lvl3pPr>
            <a:lvl4pPr marL="1371653" indent="0">
              <a:buNone/>
              <a:defRPr sz="1600"/>
            </a:lvl4pPr>
            <a:lvl5pPr marL="1828871" indent="0">
              <a:buNone/>
              <a:defRPr sz="1600"/>
            </a:lvl5pPr>
            <a:lvl6pPr marL="2286087" indent="0">
              <a:buNone/>
              <a:defRPr sz="1600"/>
            </a:lvl6pPr>
            <a:lvl7pPr marL="2743305" indent="0">
              <a:buNone/>
              <a:defRPr sz="1600"/>
            </a:lvl7pPr>
            <a:lvl8pPr marL="3200523" indent="0">
              <a:buNone/>
              <a:defRPr sz="1600"/>
            </a:lvl8pPr>
            <a:lvl9pPr marL="365774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44856" y="4837559"/>
            <a:ext cx="3091891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18" indent="0">
              <a:buNone/>
              <a:defRPr sz="1200"/>
            </a:lvl2pPr>
            <a:lvl3pPr marL="914435" indent="0">
              <a:buNone/>
              <a:defRPr sz="1000"/>
            </a:lvl3pPr>
            <a:lvl4pPr marL="1371653" indent="0">
              <a:buNone/>
              <a:defRPr sz="900"/>
            </a:lvl4pPr>
            <a:lvl5pPr marL="1828871" indent="0">
              <a:buNone/>
              <a:defRPr sz="900"/>
            </a:lvl5pPr>
            <a:lvl6pPr marL="2286087" indent="0">
              <a:buNone/>
              <a:defRPr sz="900"/>
            </a:lvl6pPr>
            <a:lvl7pPr marL="2743305" indent="0">
              <a:buNone/>
              <a:defRPr sz="900"/>
            </a:lvl7pPr>
            <a:lvl8pPr marL="3200523" indent="0">
              <a:buNone/>
              <a:defRPr sz="900"/>
            </a:lvl8pPr>
            <a:lvl9pPr marL="36577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4386692" y="2489202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799362" y="2489202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0938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1735" y="6387911"/>
            <a:ext cx="1320799" cy="22865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8179" y="6387910"/>
            <a:ext cx="5146393" cy="2286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876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117" y="0"/>
            <a:ext cx="1216056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553158" y="402165"/>
            <a:ext cx="614741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2731744" y="1211129"/>
            <a:ext cx="5995993" cy="4435745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1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33237" y="1447799"/>
            <a:ext cx="1484688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5651" y="1447799"/>
            <a:ext cx="5889248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8062" y="6365498"/>
            <a:ext cx="5146393" cy="2286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38155" y="295731"/>
            <a:ext cx="1055077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046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86417" y="182832"/>
            <a:ext cx="11804101" cy="6498412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15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EB1E2-15A4-41A7-A543-D5F9BF1AE2CD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AFF65-887E-4D25-9243-7C032B2EAC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6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117" y="0"/>
            <a:ext cx="12194117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5254" y="927099"/>
            <a:ext cx="8460346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2511" y="2489201"/>
            <a:ext cx="8460346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99257" y="6365499"/>
            <a:ext cx="13207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793" y="6365497"/>
            <a:ext cx="5146393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238155" y="295731"/>
            <a:ext cx="1055077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75CD00C6-7F17-465B-BF97-FE543791AD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6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ftr="0" dt="0"/>
  <p:txStyles>
    <p:titleStyle>
      <a:lvl1pPr algn="l" defTabSz="457218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13" indent="-342913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26" indent="-283475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57" indent="-228609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87" indent="-228609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818" indent="-228609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69" indent="-228609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79" indent="-228609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87" indent="-228609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95" indent="-228609" algn="l" defTabSz="457218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8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5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3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1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87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05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23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40" algn="l" defTabSz="457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slide" Target="slide2.xml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8.jpg"/><Relationship Id="rId11" Type="http://schemas.openxmlformats.org/officeDocument/2006/relationships/image" Target="../media/image12.jpg"/><Relationship Id="rId5" Type="http://schemas.openxmlformats.org/officeDocument/2006/relationships/image" Target="../media/image4.jpg"/><Relationship Id="rId10" Type="http://schemas.openxmlformats.org/officeDocument/2006/relationships/image" Target="../media/image11.png"/><Relationship Id="rId4" Type="http://schemas.microsoft.com/office/2007/relationships/hdphoto" Target="../media/hdphoto3.wdp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12" Type="http://schemas.openxmlformats.org/officeDocument/2006/relationships/image" Target="../media/image17.jpg"/><Relationship Id="rId2" Type="http://schemas.openxmlformats.org/officeDocument/2006/relationships/slide" Target="slide3.xml"/><Relationship Id="rId1" Type="http://schemas.openxmlformats.org/officeDocument/2006/relationships/slideLayout" Target="../slideLayouts/slideLayout30.xml"/><Relationship Id="rId6" Type="http://schemas.microsoft.com/office/2007/relationships/hdphoto" Target="../media/hdphoto6.wdp"/><Relationship Id="rId11" Type="http://schemas.openxmlformats.org/officeDocument/2006/relationships/image" Target="../media/image16.png"/><Relationship Id="rId5" Type="http://schemas.openxmlformats.org/officeDocument/2006/relationships/image" Target="../media/image14.png"/><Relationship Id="rId10" Type="http://schemas.openxmlformats.org/officeDocument/2006/relationships/image" Target="../media/image12.jpg"/><Relationship Id="rId4" Type="http://schemas.microsoft.com/office/2007/relationships/hdphoto" Target="../media/hdphoto5.wdp"/><Relationship Id="rId9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79"/>
          <a:stretch/>
        </p:blipFill>
        <p:spPr>
          <a:xfrm>
            <a:off x="199295" y="179746"/>
            <a:ext cx="11781182" cy="649317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1523" y="179746"/>
            <a:ext cx="11781182" cy="6487838"/>
          </a:xfrm>
          <a:prstGeom prst="rect">
            <a:avLst/>
          </a:prstGeom>
          <a:solidFill>
            <a:srgbClr val="0060C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5504" y="325447"/>
            <a:ext cx="1088565" cy="4363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357" y="1284602"/>
            <a:ext cx="107740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>
                    <a:lumMod val="95000"/>
                  </a:schemeClr>
                </a:solidFill>
              </a:rPr>
              <a:t>Need to contact us?</a:t>
            </a:r>
          </a:p>
          <a:p>
            <a:endParaRPr lang="en-GB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You can reach us by any of the following:</a:t>
            </a:r>
          </a:p>
          <a:p>
            <a:endParaRPr lang="en-GB" sz="2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					</a:t>
            </a:r>
          </a:p>
          <a:p>
            <a:endParaRPr lang="en-GB" sz="2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					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721" y="508414"/>
            <a:ext cx="4085258" cy="89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1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Grid </a:t>
            </a:r>
            <a:r>
              <a:rPr lang="en-GB" sz="28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Metering</a:t>
            </a:r>
          </a:p>
          <a:p>
            <a:endParaRPr lang="en-US" sz="2409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019" y="3662558"/>
            <a:ext cx="2424136" cy="242412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93778" y1="33778" x2="12889" y2="73333"/>
                        <a14:foregroundMark x1="82667" y1="76444" x2="42222" y2="7111"/>
                        <a14:foregroundMark x1="61778" y1="94667" x2="18667" y2="20444"/>
                        <a14:foregroundMark x1="4889" y1="65333" x2="72889" y2="14667"/>
                        <a14:foregroundMark x1="95556" y1="62667" x2="26667" y2="20444"/>
                        <a14:foregroundMark x1="4889" y1="43556" x2="80444" y2="26667"/>
                        <a14:foregroundMark x1="25778" y1="92000" x2="88444" y2="44889"/>
                        <a14:foregroundMark x1="80444" y1="85778" x2="27556" y2="66667"/>
                        <a14:foregroundMark x1="23111" y1="75111" x2="23111" y2="75111"/>
                        <a14:foregroundMark x1="39556" y1="85333" x2="39556" y2="85333"/>
                        <a14:foregroundMark x1="31556" y1="80000" x2="31556" y2="8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373093" y="3739606"/>
            <a:ext cx="2435947" cy="2435947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42667" y1="44444" x2="42667" y2="44444"/>
                        <a14:foregroundMark x1="42222" y1="56889" x2="42222" y2="56889"/>
                        <a14:foregroundMark x1="44000" y1="68444" x2="44000" y2="68444"/>
                        <a14:foregroundMark x1="55111" y1="69778" x2="56444" y2="68889"/>
                        <a14:foregroundMark x1="57778" y1="58222" x2="57778" y2="58222"/>
                        <a14:foregroundMark x1="60889" y1="45778" x2="60889" y2="45778"/>
                        <a14:foregroundMark x1="57778" y1="27111" x2="57778" y2="27111"/>
                        <a14:foregroundMark x1="70667" y1="31556" x2="70667" y2="31556"/>
                        <a14:foregroundMark x1="58222" y1="21778" x2="58222" y2="21778"/>
                        <a14:foregroundMark x1="58222" y1="18222" x2="75556" y2="65778"/>
                        <a14:foregroundMark x1="21778" y1="32889" x2="28889" y2="68444"/>
                        <a14:foregroundMark x1="23556" y1="28000" x2="84444" y2="24889"/>
                        <a14:foregroundMark x1="13778" y1="72444" x2="80889" y2="77778"/>
                        <a14:foregroundMark x1="36889" y1="16000" x2="63111" y2="88000"/>
                        <a14:foregroundMark x1="26222" y1="93333" x2="72444" y2="11111"/>
                        <a14:foregroundMark x1="4889" y1="58222" x2="90667" y2="50667"/>
                        <a14:foregroundMark x1="11111" y1="44000" x2="90222" y2="40000"/>
                        <a14:foregroundMark x1="85333" y1="32000" x2="19111" y2="49778"/>
                        <a14:foregroundMark x1="14667" y1="28444" x2="85778" y2="67556"/>
                        <a14:foregroundMark x1="86222" y1="74667" x2="48444" y2="56000"/>
                        <a14:foregroundMark x1="84444" y1="88889" x2="35556" y2="755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6618" y="3662558"/>
            <a:ext cx="2698485" cy="269848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TextBox 1"/>
          <p:cNvSpPr txBox="1"/>
          <p:nvPr/>
        </p:nvSpPr>
        <p:spPr>
          <a:xfrm>
            <a:off x="1672608" y="3000861"/>
            <a:ext cx="1331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bg1">
                    <a:lumMod val="95000"/>
                  </a:schemeClr>
                </a:solidFill>
              </a:rPr>
              <a:t>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5412" y="3000861"/>
            <a:ext cx="21789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bg1">
                    <a:lumMod val="95000"/>
                  </a:schemeClr>
                </a:solidFill>
              </a:rPr>
              <a:t>Telephone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3894" y="3000861"/>
            <a:ext cx="123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bg1">
                    <a:lumMod val="95000"/>
                  </a:schemeClr>
                </a:solidFill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6657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9527" y="256103"/>
            <a:ext cx="3906242" cy="82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3634"/>
            <a:r>
              <a:rPr lang="en-GB" sz="2381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Service Centre</a:t>
            </a:r>
            <a:endParaRPr lang="en-US" sz="2381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3634"/>
            <a:endParaRPr lang="en-US" sz="239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46409" y="1900782"/>
            <a:ext cx="40244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 requests for new meter installation, meter exchanges, meter removals, OFMAT and meter pick ups. To be used if not able to raise via the Rainbow / Phoenix online portal.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4444" y="3235553"/>
            <a:ext cx="42332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Adversarial meter work requests for engineer hire to assist with removal of meter to aid the warrant process.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U6/E6/G4 meters (Residential only)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53634" y="4684481"/>
            <a:ext cx="39386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OFMAT requests and queries for domestic U6/E6/G4 meters</a:t>
            </a:r>
          </a:p>
        </p:txBody>
      </p:sp>
      <p:sp>
        <p:nvSpPr>
          <p:cNvPr id="36" name="Rectangle 35"/>
          <p:cNvSpPr/>
          <p:nvPr/>
        </p:nvSpPr>
        <p:spPr>
          <a:xfrm rot="16200000">
            <a:off x="5829063" y="2076036"/>
            <a:ext cx="15521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 Work Requests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16159" y="794789"/>
            <a:ext cx="3961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Residential: 0800 001 430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9597" y="1284576"/>
            <a:ext cx="39164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Business: 08700 060 0005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3044" y="2548973"/>
            <a:ext cx="38266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box.ngm.meteringworkrequest@nationalgrid.com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38569" y="1896376"/>
            <a:ext cx="523221" cy="4808227"/>
            <a:chOff x="238569" y="1896376"/>
            <a:chExt cx="523221" cy="4808227"/>
          </a:xfrm>
        </p:grpSpPr>
        <p:sp>
          <p:nvSpPr>
            <p:cNvPr id="25" name="Rectangle 24"/>
            <p:cNvSpPr/>
            <p:nvPr/>
          </p:nvSpPr>
          <p:spPr>
            <a:xfrm rot="16200000">
              <a:off x="-107806" y="2242752"/>
              <a:ext cx="100053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 Flows</a:t>
              </a:r>
              <a:endPara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 rot="16200000">
              <a:off x="-119830" y="3593953"/>
              <a:ext cx="102457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Complaints</a:t>
              </a:r>
              <a:endParaRPr 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 rot="16200000">
              <a:off x="-228073" y="4785670"/>
              <a:ext cx="1238658" cy="3053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PEMS</a:t>
              </a:r>
              <a:endPara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 rot="16200000">
              <a:off x="-203645" y="5739169"/>
              <a:ext cx="140764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Faulty Meters (TFM)</a:t>
              </a:r>
              <a:endPara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73979" y="1896375"/>
            <a:ext cx="10631611" cy="4462922"/>
            <a:chOff x="743028" y="2001446"/>
            <a:chExt cx="10631611" cy="4462922"/>
          </a:xfrm>
        </p:grpSpPr>
        <p:pic>
          <p:nvPicPr>
            <p:cNvPr id="44" name="Picture 43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67" b="98833" l="0" r="98680">
                          <a14:foregroundMark x1="43234" y1="42833" x2="43234" y2="42833"/>
                          <a14:foregroundMark x1="53630" y1="63333" x2="53630" y2="63333"/>
                          <a14:foregroundMark x1="70132" y1="60333" x2="70132" y2="60333"/>
                          <a14:foregroundMark x1="50165" y1="57667" x2="73432" y2="57667"/>
                          <a14:foregroundMark x1="33663" y1="37667" x2="45875" y2="37667"/>
                          <a14:foregroundMark x1="33993" y1="37500" x2="33333" y2="45333"/>
                          <a14:foregroundMark x1="28053" y1="37500" x2="31353" y2="44667"/>
                          <a14:foregroundMark x1="35809" y1="33500" x2="57921" y2="39833"/>
                          <a14:foregroundMark x1="47690" y1="55500" x2="73927" y2="55167"/>
                          <a14:foregroundMark x1="54950" y1="61000" x2="74587" y2="63000"/>
                          <a14:foregroundMark x1="48680" y1="57000" x2="46205" y2="65500"/>
                          <a14:backgroundMark x1="11056" y1="34500" x2="49505" y2="15333"/>
                          <a14:backgroundMark x1="61221" y1="19333" x2="85479" y2="41667"/>
                          <a14:backgroundMark x1="15512" y1="49000" x2="43399" y2="84000"/>
                          <a14:backgroundMark x1="55446" y1="84333" x2="87294" y2="68167"/>
                          <a14:backgroundMark x1="67657" y1="36333" x2="83663" y2="51333"/>
                          <a14:backgroundMark x1="29538" y1="8000" x2="54290" y2="9500"/>
                          <a14:backgroundMark x1="25908" y1="16833" x2="7756" y2="37333"/>
                          <a14:backgroundMark x1="10066" y1="45000" x2="14026" y2="65667"/>
                          <a14:backgroundMark x1="23762" y1="76500" x2="40099" y2="86167"/>
                          <a14:backgroundMark x1="37129" y1="64167" x2="44389" y2="75833"/>
                          <a14:backgroundMark x1="50660" y1="74000" x2="45215" y2="88333"/>
                          <a14:backgroundMark x1="68152" y1="84333" x2="83663" y2="77667"/>
                          <a14:backgroundMark x1="85479" y1="56333" x2="61551" y2="38833"/>
                          <a14:backgroundMark x1="48845" y1="29667" x2="56106" y2="27167"/>
                          <a14:backgroundMark x1="61551" y1="12333" x2="85149" y2="28500"/>
                          <a14:backgroundMark x1="88449" y1="40667" x2="89109" y2="54500"/>
                          <a14:backgroundMark x1="42244" y1="26667" x2="53960" y2="19000"/>
                          <a14:backgroundMark x1="93069" y1="59667" x2="60396" y2="78333"/>
                          <a14:backgroundMark x1="56436" y1="73333" x2="49835" y2="91667"/>
                          <a14:backgroundMark x1="57096" y1="90833" x2="70627" y2="85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3028" y="2219893"/>
              <a:ext cx="659056" cy="563635"/>
            </a:xfrm>
            <a:prstGeom prst="rect">
              <a:avLst/>
            </a:prstGeom>
          </p:spPr>
        </p:pic>
        <p:sp>
          <p:nvSpPr>
            <p:cNvPr id="13" name="Oval 12"/>
            <p:cNvSpPr/>
            <p:nvPr/>
          </p:nvSpPr>
          <p:spPr>
            <a:xfrm>
              <a:off x="768169" y="2142084"/>
              <a:ext cx="682031" cy="682031"/>
            </a:xfrm>
            <a:prstGeom prst="ellipse">
              <a:avLst/>
            </a:prstGeom>
            <a:noFill/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7000583" y="2001446"/>
              <a:ext cx="682031" cy="682031"/>
            </a:xfrm>
            <a:prstGeom prst="ellipse">
              <a:avLst/>
            </a:prstGeom>
            <a:solidFill>
              <a:srgbClr val="00B0F0"/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pic>
          <p:nvPicPr>
            <p:cNvPr id="45" name="Picture 44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9872" y="2091528"/>
              <a:ext cx="448699" cy="448699"/>
            </a:xfrm>
            <a:prstGeom prst="rect">
              <a:avLst/>
            </a:prstGeom>
          </p:spPr>
        </p:pic>
        <p:sp>
          <p:nvSpPr>
            <p:cNvPr id="16" name="Oval 15"/>
            <p:cNvSpPr/>
            <p:nvPr/>
          </p:nvSpPr>
          <p:spPr>
            <a:xfrm>
              <a:off x="768169" y="3409455"/>
              <a:ext cx="682031" cy="682031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pic>
          <p:nvPicPr>
            <p:cNvPr id="17" name="Picture 16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908" y="3529251"/>
              <a:ext cx="416565" cy="411937"/>
            </a:xfrm>
            <a:prstGeom prst="rect">
              <a:avLst/>
            </a:prstGeom>
          </p:spPr>
        </p:pic>
        <p:sp>
          <p:nvSpPr>
            <p:cNvPr id="18" name="Oval 17"/>
            <p:cNvSpPr/>
            <p:nvPr/>
          </p:nvSpPr>
          <p:spPr>
            <a:xfrm>
              <a:off x="7000583" y="3249767"/>
              <a:ext cx="682031" cy="682031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lin ang="2700000" scaled="1"/>
              <a:tileRect/>
            </a:gra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pic>
          <p:nvPicPr>
            <p:cNvPr id="49" name="Picture 48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745" y="3347209"/>
              <a:ext cx="435481" cy="435481"/>
            </a:xfrm>
            <a:prstGeom prst="rect">
              <a:avLst/>
            </a:prstGeom>
          </p:spPr>
        </p:pic>
        <p:sp>
          <p:nvSpPr>
            <p:cNvPr id="20" name="Oval 19"/>
            <p:cNvSpPr/>
            <p:nvPr/>
          </p:nvSpPr>
          <p:spPr>
            <a:xfrm>
              <a:off x="7000583" y="4706341"/>
              <a:ext cx="682031" cy="682031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shade val="30000"/>
                    <a:satMod val="115000"/>
                  </a:schemeClr>
                </a:gs>
                <a:gs pos="50000">
                  <a:schemeClr val="accent6">
                    <a:shade val="67500"/>
                    <a:satMod val="115000"/>
                  </a:schemeClr>
                </a:gs>
                <a:gs pos="100000">
                  <a:schemeClr val="accent6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pic>
          <p:nvPicPr>
            <p:cNvPr id="51" name="Picture 50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1223" y="4820582"/>
              <a:ext cx="417348" cy="401348"/>
            </a:xfrm>
            <a:prstGeom prst="rect">
              <a:avLst/>
            </a:prstGeom>
          </p:spPr>
        </p:pic>
        <p:grpSp>
          <p:nvGrpSpPr>
            <p:cNvPr id="3" name="Group 2"/>
            <p:cNvGrpSpPr/>
            <p:nvPr/>
          </p:nvGrpSpPr>
          <p:grpSpPr>
            <a:xfrm>
              <a:off x="768169" y="4474379"/>
              <a:ext cx="682031" cy="682031"/>
              <a:chOff x="768169" y="4474379"/>
              <a:chExt cx="682031" cy="682031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768169" y="4474379"/>
                <a:ext cx="682031" cy="682031"/>
              </a:xfrm>
              <a:prstGeom prst="ellipse">
                <a:avLst/>
              </a:prstGeom>
              <a:solidFill>
                <a:srgbClr val="7030A0"/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1" dirty="0"/>
              </a:p>
            </p:txBody>
          </p:sp>
          <p:pic>
            <p:nvPicPr>
              <p:cNvPr id="53" name="Picture 52">
                <a:hlinkClick r:id="rId2" action="ppaction://hlinksldjump"/>
              </p:cNvPr>
              <p:cNvPicPr>
                <a:picLocks noChangeAspect="1"/>
              </p:cNvPicPr>
              <p:nvPr/>
            </p:nvPicPr>
            <p:blipFill>
              <a:blip r:embed="rId10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8057" y="4636429"/>
                <a:ext cx="366208" cy="318365"/>
              </a:xfrm>
              <a:prstGeom prst="rect">
                <a:avLst/>
              </a:prstGeom>
            </p:spPr>
          </p:pic>
        </p:grpSp>
        <p:sp>
          <p:nvSpPr>
            <p:cNvPr id="24" name="Rectangle 23"/>
            <p:cNvSpPr/>
            <p:nvPr/>
          </p:nvSpPr>
          <p:spPr>
            <a:xfrm>
              <a:off x="1508533" y="2080815"/>
              <a:ext cx="53019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Queries relating to dual billing, supplierless sites, PALD and data flows. </a:t>
              </a:r>
            </a:p>
            <a:p>
              <a:pPr algn="just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Updates, questions or photos for anything related to Data queries.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468855" y="3334118"/>
              <a:ext cx="406061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Complaints are received from either the gas supplier or the end consumer following completion of meter work. 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587668" y="4405597"/>
              <a:ext cx="4664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PEMS service only applies to meters with a capacity of less  than 11 </a:t>
              </a:r>
              <a:r>
                <a:rPr lang="en-US" sz="120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scmh</a:t>
              </a:r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; such as E6/U6 and G4 meters</a:t>
              </a:r>
            </a:p>
          </p:txBody>
        </p:sp>
        <p:sp>
          <p:nvSpPr>
            <p:cNvPr id="37" name="Rectangle 36"/>
            <p:cNvSpPr/>
            <p:nvPr/>
          </p:nvSpPr>
          <p:spPr>
            <a:xfrm rot="16200000">
              <a:off x="5823519" y="3447809"/>
              <a:ext cx="1634003" cy="5191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Adversarial Meter Works</a:t>
              </a:r>
              <a:endPara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 rot="16200000">
              <a:off x="6008726" y="4887743"/>
              <a:ext cx="1052556" cy="3053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OFMAT</a:t>
              </a:r>
              <a:endPara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04898" y="2561261"/>
              <a:ext cx="429543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box.ngm.assetportfolioquerie@nationalgrid.com</a:t>
              </a:r>
              <a:br>
                <a:rPr lang="en-US" sz="1200" b="1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box.NGM.requestfurtherinformation@nationalgrid.com</a:t>
              </a:r>
            </a:p>
            <a:p>
              <a:endParaRPr lang="en-US" sz="12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504898" y="3793699"/>
              <a:ext cx="33570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box.meteringcomplaints@nationalgrid.com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871757" y="3953358"/>
              <a:ext cx="28184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box.engineerhire@nationalgrid.com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871757" y="5093076"/>
              <a:ext cx="350288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box.MAMofmat.quotes.mp@nationalgrid.com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587668" y="4879411"/>
              <a:ext cx="26645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box.ngm.pems@nationalgrid.com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587668" y="5101161"/>
              <a:ext cx="373211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invoicing.commercialdelivery@nationalgrid.com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768169" y="5782337"/>
              <a:ext cx="682031" cy="682031"/>
              <a:chOff x="804125" y="5782337"/>
              <a:chExt cx="682031" cy="682031"/>
            </a:xfrm>
          </p:grpSpPr>
          <p:sp>
            <p:nvSpPr>
              <p:cNvPr id="66" name="Oval 65"/>
              <p:cNvSpPr/>
              <p:nvPr/>
            </p:nvSpPr>
            <p:spPr>
              <a:xfrm>
                <a:off x="804125" y="5782337"/>
                <a:ext cx="682031" cy="682031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50000"/>
                    </a:schemeClr>
                  </a:gs>
                </a:gsLst>
                <a:lin ang="2700000" scaled="1"/>
              </a:gra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1" dirty="0"/>
              </a:p>
            </p:txBody>
          </p:sp>
          <p:pic>
            <p:nvPicPr>
              <p:cNvPr id="67" name="Picture 66">
                <a:hlinkClick r:id="rId2" action="ppaction://hlinksldjump"/>
              </p:cNvPr>
              <p:cNvPicPr>
                <a:picLocks noChangeAspect="1"/>
              </p:cNvPicPr>
              <p:nvPr/>
            </p:nvPicPr>
            <p:blipFill>
              <a:blip r:embed="rId11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4125" y="5833033"/>
                <a:ext cx="649029" cy="509844"/>
              </a:xfrm>
              <a:prstGeom prst="rect">
                <a:avLst/>
              </a:prstGeom>
            </p:spPr>
          </p:pic>
        </p:grpSp>
        <p:sp>
          <p:nvSpPr>
            <p:cNvPr id="69" name="Rectangle 68"/>
            <p:cNvSpPr/>
            <p:nvPr/>
          </p:nvSpPr>
          <p:spPr>
            <a:xfrm>
              <a:off x="1632716" y="5743443"/>
              <a:ext cx="406061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Post gas emergency after the network has made site safe. </a:t>
              </a:r>
              <a:endPara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632716" y="6032591"/>
              <a:ext cx="261481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box.NGM.TFM@nationalgrid.com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65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65748" y="295466"/>
            <a:ext cx="3914703" cy="826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3634"/>
            <a:r>
              <a:rPr lang="en-GB" sz="2381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Activities</a:t>
            </a:r>
            <a:endParaRPr lang="en-US" sz="2381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3634"/>
            <a:endParaRPr lang="en-US" sz="239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530652" y="2370399"/>
            <a:ext cx="30492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Invoice queries and information.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Both Residential and Commercial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88699" y="3739098"/>
            <a:ext cx="37180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GOSP Guaranteed and overall standards of performance </a:t>
            </a:r>
          </a:p>
          <a:p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(Residential and micro business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85201" y="2884532"/>
            <a:ext cx="37328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box.Rainbow.Billing.Metering@nationalgrid.com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64103" y="1820702"/>
            <a:ext cx="35942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box.NGM.CustomerReports@nationalgrid.com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91200" y="4234330"/>
            <a:ext cx="26901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gosp.meterting@nationalgrid.com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1560" y="967563"/>
            <a:ext cx="11858364" cy="5125050"/>
            <a:chOff x="231074" y="994067"/>
            <a:chExt cx="11858364" cy="5125050"/>
          </a:xfrm>
        </p:grpSpPr>
        <p:sp>
          <p:nvSpPr>
            <p:cNvPr id="13" name="Oval 12"/>
            <p:cNvSpPr/>
            <p:nvPr/>
          </p:nvSpPr>
          <p:spPr>
            <a:xfrm>
              <a:off x="744938" y="1269476"/>
              <a:ext cx="682031" cy="682031"/>
            </a:xfrm>
            <a:prstGeom prst="ellipse">
              <a:avLst/>
            </a:prstGeom>
            <a:noFill/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6721270" y="1272609"/>
              <a:ext cx="682031" cy="682031"/>
            </a:xfrm>
            <a:prstGeom prst="ellipse">
              <a:avLst/>
            </a:prstGeom>
            <a:solidFill>
              <a:srgbClr val="00B0F0"/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6721270" y="2593197"/>
              <a:ext cx="682031" cy="682031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89000"/>
                  </a:schemeClr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lin ang="2700000" scaled="1"/>
              <a:tileRect/>
            </a:gra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744938" y="2451764"/>
              <a:ext cx="682031" cy="682031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50000"/>
                  </a:schemeClr>
                </a:gs>
              </a:gsLst>
              <a:lin ang="2700000" scaled="1"/>
            </a:gra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44938" y="3803463"/>
              <a:ext cx="682031" cy="682031"/>
            </a:xfrm>
            <a:prstGeom prst="ellipse">
              <a:avLst/>
            </a:prstGeom>
            <a:solidFill>
              <a:srgbClr val="7030A0"/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6721270" y="3952521"/>
              <a:ext cx="687399" cy="687399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50000"/>
                  </a:schemeClr>
                </a:gs>
              </a:gsLst>
              <a:lin ang="2700000" scaled="1"/>
            </a:gra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776" tIns="45888" rIns="91776" bIns="458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15" dirty="0"/>
            </a:p>
          </p:txBody>
        </p:sp>
        <p:pic>
          <p:nvPicPr>
            <p:cNvPr id="31" name="Picture 30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1842" b="82105" l="8380" r="90875">
                          <a14:foregroundMark x1="22905" y1="40000" x2="22905" y2="40000"/>
                          <a14:foregroundMark x1="37244" y1="63684" x2="37244" y2="63684"/>
                          <a14:foregroundMark x1="51210" y1="77105" x2="51210" y2="77105"/>
                          <a14:foregroundMark x1="62384" y1="37105" x2="62384" y2="38158"/>
                          <a14:foregroundMark x1="78771" y1="42368" x2="78771" y2="42368"/>
                          <a14:backgroundMark x1="52514" y1="65789" x2="52514" y2="65789"/>
                          <a14:backgroundMark x1="56425" y1="58421" x2="56425" y2="58421"/>
                          <a14:backgroundMark x1="51769" y1="65000" x2="51769" y2="65000"/>
                          <a14:backgroundMark x1="37616" y1="65526" x2="37616" y2="65526"/>
                          <a14:backgroundMark x1="32961" y1="60000" x2="32961" y2="60000"/>
                          <a14:backgroundMark x1="43017" y1="71316" x2="43017" y2="713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938" y="1360574"/>
              <a:ext cx="714717" cy="505759"/>
            </a:xfrm>
            <a:prstGeom prst="rect">
              <a:avLst/>
            </a:prstGeom>
          </p:spPr>
        </p:pic>
        <p:pic>
          <p:nvPicPr>
            <p:cNvPr id="32" name="Picture 31">
              <a:hlinkClick r:id="rId2" action="ppaction://hlinksldjump"/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14667" r="82556">
                          <a14:foregroundMark x1="48222" y1="31154" x2="32778" y2="69615"/>
                          <a14:foregroundMark x1="35000" y1="33077" x2="47778" y2="68077"/>
                          <a14:foregroundMark x1="61778" y1="50962" x2="65778" y2="82692"/>
                          <a14:foregroundMark x1="54111" y1="86731" x2="72333" y2="47115"/>
                          <a14:foregroundMark x1="72000" y1="55769" x2="72111" y2="86154"/>
                          <a14:foregroundMark x1="55333" y1="56731" x2="63889" y2="57885"/>
                          <a14:backgroundMark x1="36000" y1="20192" x2="36000" y2="20192"/>
                          <a14:backgroundMark x1="66333" y1="22115" x2="66333" y2="22115"/>
                          <a14:backgroundMark x1="64444" y1="40577" x2="64444" y2="40577"/>
                          <a14:backgroundMark x1="53556" y1="42692" x2="53556" y2="42692"/>
                          <a14:backgroundMark x1="47444" y1="86154" x2="47444" y2="86154"/>
                          <a14:backgroundMark x1="37667" y1="83846" x2="49333" y2="92115"/>
                          <a14:backgroundMark x1="27222" y1="30192" x2="24889" y2="61923"/>
                          <a14:backgroundMark x1="66778" y1="18654" x2="73778" y2="42115"/>
                          <a14:backgroundMark x1="54778" y1="40769" x2="73667" y2="42115"/>
                          <a14:backgroundMark x1="36556" y1="12692" x2="26889" y2="25577"/>
                          <a14:backgroundMark x1="28889" y1="26923" x2="34667" y2="21346"/>
                          <a14:backgroundMark x1="32667" y1="81923" x2="48556" y2="93077"/>
                          <a14:backgroundMark x1="56111" y1="91731" x2="50667" y2="93846"/>
                          <a14:backgroundMark x1="49333" y1="80577" x2="50667" y2="85192"/>
                          <a14:backgroundMark x1="51889" y1="48462" x2="51444" y2="74231"/>
                          <a14:backgroundMark x1="76889" y1="47308" x2="75333" y2="61154"/>
                          <a14:backgroundMark x1="57000" y1="962" x2="55667" y2="962"/>
                          <a14:backgroundMark x1="43222" y1="962" x2="43667" y2="769"/>
                          <a14:backgroundMark x1="4444" y1="385" x2="111" y2="0"/>
                          <a14:backgroundMark x1="44444" y1="385" x2="44889" y2="385"/>
                          <a14:backgroundMark x1="54222" y1="192" x2="55333" y2="769"/>
                          <a14:backgroundMark x1="45556" y1="385" x2="45556" y2="385"/>
                          <a14:backgroundMark x1="46000" y1="192" x2="46000" y2="192"/>
                          <a14:backgroundMark x1="53667" y1="192" x2="53667" y2="192"/>
                          <a14:backgroundMark x1="57556" y1="1346" x2="57556" y2="134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10" t="2061" r="24617" b="8856"/>
            <a:stretch/>
          </p:blipFill>
          <p:spPr>
            <a:xfrm>
              <a:off x="890021" y="2582645"/>
              <a:ext cx="396612" cy="420268"/>
            </a:xfrm>
            <a:prstGeom prst="rect">
              <a:avLst/>
            </a:prstGeom>
          </p:spPr>
        </p:pic>
        <p:pic>
          <p:nvPicPr>
            <p:cNvPr id="33" name="Picture 32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355" y="3912831"/>
              <a:ext cx="366208" cy="339621"/>
            </a:xfrm>
            <a:prstGeom prst="rect">
              <a:avLst/>
            </a:prstGeom>
          </p:spPr>
        </p:pic>
        <p:pic>
          <p:nvPicPr>
            <p:cNvPr id="34" name="Picture 33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1038" y="4051989"/>
              <a:ext cx="402493" cy="474994"/>
            </a:xfrm>
            <a:prstGeom prst="rect">
              <a:avLst/>
            </a:prstGeom>
          </p:spPr>
        </p:pic>
        <p:pic>
          <p:nvPicPr>
            <p:cNvPr id="35" name="Picture 34">
              <a:hlinkClick r:id="rId9" action="ppaction://hlinksldjump"/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1270" y="1349333"/>
              <a:ext cx="649029" cy="509844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09286" y="2749644"/>
              <a:ext cx="404192" cy="404192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1595055" y="1226141"/>
              <a:ext cx="3895554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Interface between our operation and customers developing</a:t>
              </a:r>
            </a:p>
            <a:p>
              <a:r>
                <a:rPr lang="en-GB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maintaining relationships. Key escalation points</a:t>
              </a:r>
            </a:p>
            <a:p>
              <a:r>
                <a:rPr lang="en-GB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and management information.</a:t>
              </a:r>
            </a:p>
            <a:p>
              <a:endPara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408669" y="3835991"/>
              <a:ext cx="46807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New Auto Mated Reading (AMR) requests, queries, photos and updates.</a:t>
              </a:r>
            </a:p>
            <a:p>
              <a:r>
                <a:rPr lang="en-GB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AMR reads and reports can be found on our AMR Portal.</a:t>
              </a:r>
              <a:endPara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482281" y="1259758"/>
              <a:ext cx="310803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Updates or questions for Technical Queries for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Commercial meters only.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486360" y="2496984"/>
              <a:ext cx="45605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Non standard and Siteworks requests, quotes and queries. </a:t>
              </a:r>
            </a:p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Rotary/Turbine installs, exchanges and removals</a:t>
              </a:r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6415" y="2640092"/>
              <a:ext cx="993644" cy="3053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3634"/>
              <a:r>
                <a:rPr lang="en-GB" sz="1389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Invoicing</a:t>
              </a:r>
              <a:endParaRPr lang="en-US" sz="138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 rot="16200000">
              <a:off x="-54979" y="1349931"/>
              <a:ext cx="1091991" cy="519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3634"/>
              <a:r>
                <a:rPr lang="en-GB" sz="1389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 Reporting</a:t>
              </a:r>
              <a:endParaRPr lang="en-US" sz="138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 rot="16200000">
              <a:off x="-75939" y="3973609"/>
              <a:ext cx="1238658" cy="3053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3634"/>
              <a:r>
                <a:rPr lang="en-GB" sz="14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GOSP</a:t>
              </a:r>
              <a:endParaRPr lang="en-US" sz="14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 rot="16200000">
              <a:off x="5642186" y="1533689"/>
              <a:ext cx="1599129" cy="519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3634"/>
              <a:r>
                <a:rPr lang="en-GB" sz="14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Technical</a:t>
              </a:r>
            </a:p>
            <a:p>
              <a:pPr algn="ctr" defTabSz="453634"/>
              <a:r>
                <a:rPr lang="en-GB" sz="14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queries</a:t>
              </a:r>
              <a:endParaRPr lang="en-US" sz="14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 rot="16200000">
              <a:off x="5207647" y="2839062"/>
              <a:ext cx="246867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Non Standard </a:t>
              </a:r>
            </a:p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Meter &amp; Siteworks</a:t>
              </a:r>
              <a:endPara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 rot="16200000">
              <a:off x="5943084" y="4143420"/>
              <a:ext cx="776870" cy="3053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3634"/>
              <a:r>
                <a:rPr lang="en-GB" sz="14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AMR</a:t>
              </a:r>
              <a:endParaRPr lang="en-US" sz="14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10222236" y="1662040"/>
              <a:ext cx="120577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0121 210 3955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10173188" y="3016303"/>
              <a:ext cx="111921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0121 </a:t>
              </a:r>
              <a:r>
                <a:rPr lang="en-US" sz="12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210 3763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687914" y="4330288"/>
              <a:ext cx="120577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0121 424 8888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482281" y="4337968"/>
              <a:ext cx="21836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ngmamr@nationalgrid.com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638116" y="1664824"/>
              <a:ext cx="251222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box.NGM.TQ@nationalgrid.com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486360" y="3015337"/>
              <a:ext cx="27671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ic.nonstandard1@nationalgrid.com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744938" y="5098283"/>
              <a:ext cx="682031" cy="682031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50000"/>
                  </a:schemeClr>
                </a:gs>
              </a:gsLst>
              <a:lin ang="2700000" scaled="1"/>
            </a:gra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59" tIns="45530" rIns="91059" bIns="45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590954" y="5066163"/>
              <a:ext cx="44679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Updates on further work resulting from TFM visits for commercial meters</a:t>
              </a:r>
            </a:p>
          </p:txBody>
        </p:sp>
        <p:sp>
          <p:nvSpPr>
            <p:cNvPr id="51" name="Rectangle 50"/>
            <p:cNvSpPr/>
            <p:nvPr/>
          </p:nvSpPr>
          <p:spPr>
            <a:xfrm rot="16200000">
              <a:off x="-148920" y="5153683"/>
              <a:ext cx="140764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Faulty Meters (TFM)</a:t>
              </a:r>
              <a:endPara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10166" y="5577960"/>
              <a:ext cx="261481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box.NGM.TFM@nationalgrid.com</a:t>
              </a:r>
            </a:p>
          </p:txBody>
        </p:sp>
        <p:pic>
          <p:nvPicPr>
            <p:cNvPr id="58" name="Picture 57">
              <a:hlinkClick r:id="rId9" action="ppaction://hlinksldjump"/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938" y="5177751"/>
              <a:ext cx="649029" cy="509844"/>
            </a:xfrm>
            <a:prstGeom prst="rect">
              <a:avLst/>
            </a:prstGeom>
          </p:spPr>
        </p:pic>
        <p:sp>
          <p:nvSpPr>
            <p:cNvPr id="59" name="Oval 58"/>
            <p:cNvSpPr/>
            <p:nvPr/>
          </p:nvSpPr>
          <p:spPr>
            <a:xfrm>
              <a:off x="6721270" y="5113122"/>
              <a:ext cx="687399" cy="687399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50000"/>
                  </a:schemeClr>
                </a:gs>
              </a:gsLst>
              <a:lin ang="2700000" scaled="1"/>
            </a:gra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776" tIns="45888" rIns="91776" bIns="458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15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573573" y="5113122"/>
              <a:ext cx="35480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Requests for chatterbox installs. </a:t>
              </a:r>
            </a:p>
            <a:p>
              <a:r>
                <a:rPr lang="en-GB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Once installed these are customers own responsibility</a:t>
              </a:r>
              <a:endPara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 rot="16200000">
              <a:off x="5807489" y="5205573"/>
              <a:ext cx="1052556" cy="3053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MPU</a:t>
              </a:r>
              <a:endParaRPr lang="en-US" sz="1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573573" y="5662021"/>
              <a:ext cx="239200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box.ic.mpu@nationalgrid.com</a:t>
              </a:r>
            </a:p>
          </p:txBody>
        </p:sp>
        <p:pic>
          <p:nvPicPr>
            <p:cNvPr id="63" name="Picture 62">
              <a:hlinkClick r:id="rId2" action="ppaction://hlinksldjump" tooltip="Technical project management and end to end design of Siteworks projects."/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762" y="5228597"/>
              <a:ext cx="421239" cy="4214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712494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 Boardroom">
  <a:themeElements>
    <a:clrScheme name="NGPal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9C1"/>
      </a:accent1>
      <a:accent2>
        <a:srgbClr val="78A22F"/>
      </a:accent2>
      <a:accent3>
        <a:srgbClr val="F78F1E"/>
      </a:accent3>
      <a:accent4>
        <a:srgbClr val="6A2C91"/>
      </a:accent4>
      <a:accent5>
        <a:srgbClr val="46C3D3"/>
      </a:accent5>
      <a:accent6>
        <a:srgbClr val="E64097"/>
      </a:accent6>
      <a:hlink>
        <a:srgbClr val="C2CD23"/>
      </a:hlink>
      <a:folHlink>
        <a:srgbClr val="78A22F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510</Words>
  <Application>Microsoft Office PowerPoint</Application>
  <PresentationFormat>Widescreen</PresentationFormat>
  <Paragraphs>76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Century Gothic</vt:lpstr>
      <vt:lpstr>Wingdings 3</vt:lpstr>
      <vt:lpstr>Office Theme</vt:lpstr>
      <vt:lpstr>Ion Boardroom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Yihia, Abdul</dc:creator>
  <cp:lastModifiedBy>Gaunt, Clara</cp:lastModifiedBy>
  <cp:revision>72</cp:revision>
  <dcterms:created xsi:type="dcterms:W3CDTF">2019-07-04T06:53:57Z</dcterms:created>
  <dcterms:modified xsi:type="dcterms:W3CDTF">2021-10-11T12:26:07Z</dcterms:modified>
</cp:coreProperties>
</file>